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9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7" r:id="rId22"/>
    <p:sldId id="289" r:id="rId23"/>
    <p:sldId id="288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0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4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56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warmboot.com.br/" TargetMode="External"/><Relationship Id="rId5" Type="http://schemas.openxmlformats.org/officeDocument/2006/relationships/hyperlink" Target="http://www.firebirdnews.org/" TargetMode="External"/><Relationship Id="rId4" Type="http://schemas.openxmlformats.org/officeDocument/2006/relationships/hyperlink" Target="http://www.firebase.com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D6B99">
              <a:alpha val="60000"/>
            </a:srgb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5A8CB5">
              <a:alpha val="50000"/>
            </a:srgbClr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79" y="1645920"/>
            <a:ext cx="72178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Entendendo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 Versioning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A8C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MVCC / MGA em Bancos de Dados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ulti-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ersion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oncurrency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ontrol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ulti-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enerational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rchitecture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114800"/>
            <a:ext cx="1828800" cy="36576"/>
          </a:xfrm>
          <a:prstGeom prst="rect">
            <a:avLst/>
          </a:prstGeom>
          <a:solidFill>
            <a:srgbClr val="5A8C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40080" y="408209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Conceitos, </a:t>
            </a:r>
            <a:r>
              <a:rPr lang="en-US" sz="120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Implementações </a:t>
            </a: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en-US" sz="120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621068"/>
            <a:ext cx="33817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Carlos Henrique Cantu</a:t>
            </a:r>
            <a:endParaRPr lang="pt-BR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48691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dirty="0">
                <a:solidFill>
                  <a:srgbClr val="5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firebase.com.br  |  firebirdnews.org |  firebirddevelopersday.com.br</a:t>
            </a:r>
            <a:endParaRPr lang="pt-BR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28FA38-A3F7-960E-EE6F-9F4662EF7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683" y="2998284"/>
            <a:ext cx="1842739" cy="184273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24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Controle de </a:t>
            </a:r>
            <a:r>
              <a:rPr lang="en-US" sz="14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Concorrência</a:t>
            </a: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280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fundamental dos acessos </a:t>
            </a:r>
            <a:r>
              <a:rPr lang="en-US" sz="11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simultâneos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373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Locking vs Versioning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" y="1920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as principais arquiteturas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3774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304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 o Versioning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97280" y="2560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Conceito, </a:t>
            </a:r>
            <a:r>
              <a:rPr lang="en-US" sz="11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registros e visibilidade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0175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Transações</a:t>
            </a: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 Isolamento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97280" y="3200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</a:t>
            </a: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isolamento e seu impacto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5760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3584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Lixo e Coleta de Lixo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097280" y="38404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 e impacto na performance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29768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9728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Comparação</a:t>
            </a: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entre Bancos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097280" y="44805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Firebird, PostgreSQL, Oracle, SQL Server, MySQL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65DF09E-7311-4805-9C34-CE5C85043696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fld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6B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C4A6E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5A8CB5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Controle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</a:t>
            </a:r>
            <a:r>
              <a:rPr lang="en-US" sz="3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Concorrência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fundamental dos acessos </a:t>
            </a:r>
            <a:r>
              <a:rPr lang="en-US" sz="140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simultâneos</a:t>
            </a: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dados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22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com </a:t>
            </a:r>
            <a:r>
              <a:rPr lang="en-US" sz="22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Concorrência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dois </a:t>
            </a:r>
            <a:r>
              <a:rPr lang="en-US" sz="13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acessando a mesma conta </a:t>
            </a:r>
            <a:r>
              <a:rPr lang="en-US" sz="13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bancária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mesmo tempo: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Saldo inicial: R$ 1.000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saldo: R$ 1.000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saldo: R$ 1.000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deposita R$ 500 -&gt; Saldo = R$ 1.500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200" b="1" dirty="0" err="1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 saca R$ 200 -&gt; Saldo = R$ 800 (!)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correto deveria ser R$ 1.300, mas </a:t>
            </a:r>
            <a:r>
              <a:rPr lang="en-US" sz="12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ficou</a:t>
            </a: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R$ 800</a:t>
            </a:r>
            <a:endParaRPr lang="en-US" sz="1200" b="1" dirty="0"/>
          </a:p>
        </p:txBody>
      </p:sp>
      <p:sp>
        <p:nvSpPr>
          <p:cNvPr id="13" name="Shape 10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302" y="10972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Update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02920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R$ 500 desapareceram!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754880" y="3017519"/>
            <a:ext cx="3931920" cy="1645919"/>
          </a:xfrm>
          <a:prstGeom prst="rect">
            <a:avLst/>
          </a:prstGeom>
          <a:solidFill>
            <a:srgbClr val="F7FAFC"/>
          </a:solidFill>
          <a:ln w="12700">
            <a:solidFill>
              <a:srgbClr val="3D6B9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502920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</a:t>
            </a:r>
            <a:r>
              <a:rPr lang="en-US" sz="12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controle</a:t>
            </a: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12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concorrência</a:t>
            </a: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02920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pt-BR" sz="1100" dirty="0"/>
              <a:t>Atualizações perdidas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pt-BR" sz="1100" dirty="0"/>
              <a:t>Decisões tomadas com dados desatualizados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pt-BR" sz="1100" dirty="0"/>
              <a:t>Saldo final inconsistente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pt-BR" sz="1100" dirty="0"/>
              <a:t>Sobrescrita de alterações feitas por outra transação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B3AB35C-99A9-40E3-B1E5-79D382C698D1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fld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Anomalias de </a:t>
            </a:r>
            <a:r>
              <a:rPr lang="en-US" sz="22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transações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430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Dirty Read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1463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 lê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outra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confirmou (committed). Se a outra fizer rollback, os dados lidos nunca existiram de verdade.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286000"/>
            <a:ext cx="8229600" cy="114300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231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Non-Repeatable Read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371600" y="274320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200" dirty="0"/>
              <a:t>A mesma transação lê </a:t>
            </a:r>
            <a:r>
              <a:rPr lang="pt-BR" sz="1200" b="1" dirty="0"/>
              <a:t>o mesmo registro</a:t>
            </a:r>
            <a:r>
              <a:rPr lang="pt-BR" sz="1200" dirty="0"/>
              <a:t> duas vezes e encontra valores diferentes, porque outra transação alterou e confirmou esse registro no intervalo.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0332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9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Phantom Read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371600" y="402336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200" dirty="0"/>
              <a:t>A mesma transação repete </a:t>
            </a:r>
            <a:r>
              <a:rPr lang="pt-BR" sz="1200" b="1" dirty="0"/>
              <a:t>a mesma consulta com filtro</a:t>
            </a:r>
            <a:r>
              <a:rPr lang="pt-BR" sz="1200" dirty="0"/>
              <a:t> e recebe mais ou menos registros após outra transação confirmar alterações.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CCB4823-16FD-4C5E-99FC-7D91FC894F9B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fld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4572000" cy="4572000"/>
          </a:xfrm>
          <a:prstGeom prst="ellipse">
            <a:avLst/>
          </a:prstGeom>
          <a:solidFill>
            <a:srgbClr val="3D6B99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0" y="2831500"/>
            <a:ext cx="9144000" cy="74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teoria e os exemplos apresentados são baseados</a:t>
            </a:r>
          </a:p>
          <a:p>
            <a:pPr marL="0" indent="0" algn="ctr">
              <a:buNone/>
            </a:pPr>
            <a:r>
              <a:rPr lang="pt-BR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 implementação do Versioning no Firebird</a:t>
            </a:r>
          </a:p>
        </p:txBody>
      </p:sp>
      <p:sp>
        <p:nvSpPr>
          <p:cNvPr id="5" name="Text 3"/>
          <p:cNvSpPr/>
          <p:nvPr/>
        </p:nvSpPr>
        <p:spPr>
          <a:xfrm>
            <a:off x="0" y="3931500"/>
            <a:ext cx="9144000" cy="37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conceitos podem variar em outros bancos de dados que utilizam MVCC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176846D-27CD-C9C1-489B-6B291D767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21" y="94595"/>
            <a:ext cx="2438405" cy="24384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4572000" cy="4572000"/>
          </a:xfrm>
          <a:prstGeom prst="ellipse">
            <a:avLst/>
          </a:prstGeom>
          <a:solidFill>
            <a:srgbClr val="3D6B99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Locking vs Versioning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principais abordagens para controle de </a:t>
            </a:r>
            <a:r>
              <a:rPr lang="en-US" sz="140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Abordagem Lock-Based (Pessimista)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trava (bloqueia) os dados enquanto uma </a:t>
            </a:r>
            <a:r>
              <a:rPr lang="en-US" sz="13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 está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trabalhando com eles.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2377440" cy="914400"/>
          </a:xfrm>
          <a:prstGeom prst="rect">
            <a:avLst/>
          </a:prstGeom>
          <a:solidFill>
            <a:srgbClr val="3D6B9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Transação</a:t>
            </a: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 ler/escrever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17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74720" y="1554480"/>
            <a:ext cx="2377440" cy="914400"/>
          </a:xfrm>
          <a:prstGeom prst="rect">
            <a:avLst/>
          </a:prstGeom>
          <a:solidFill>
            <a:srgbClr val="E53E3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47472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adquirido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309360" y="1554480"/>
            <a:ext cx="2377440" cy="914400"/>
          </a:xfrm>
          <a:prstGeom prst="rect">
            <a:avLst/>
          </a:prstGeom>
          <a:solidFill>
            <a:srgbClr val="5A8CB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30936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Transação</a:t>
            </a: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tenta acessar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2377440" cy="914400"/>
          </a:xfrm>
          <a:prstGeom prst="rect">
            <a:avLst/>
          </a:prstGeom>
          <a:solidFill>
            <a:srgbClr val="E53E3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0080" y="3108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BLOQUEADA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aguardando...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017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3474720" y="3017520"/>
            <a:ext cx="2377440" cy="914400"/>
          </a:xfrm>
          <a:prstGeom prst="rect">
            <a:avLst/>
          </a:prstGeom>
          <a:solidFill>
            <a:srgbClr val="38A16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474720" y="3108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Transação</a:t>
            </a: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 COMMIT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309360" y="3017520"/>
            <a:ext cx="2377440" cy="914400"/>
          </a:xfrm>
          <a:prstGeom prst="rect">
            <a:avLst/>
          </a:prstGeom>
          <a:solidFill>
            <a:srgbClr val="3D6B9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309360" y="3108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 liberado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Transação</a:t>
            </a: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 continua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</a:rPr>
              <a:t>↓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4008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Leitores bloqueiam escritores e escritores bloqueiam leitores. Em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muitos acessos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simultâneos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desempenho despenca.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F8C3096-8970-47A4-9714-83CD31F9580A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fld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Abordagem Versioning / MVCC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bloquear, o banco cria novas </a:t>
            </a:r>
            <a:r>
              <a:rPr lang="en-US" sz="13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dados. Cada </a:t>
            </a:r>
            <a:r>
              <a:rPr lang="en-US" sz="13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 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 sua </a:t>
            </a:r>
            <a:r>
              <a:rPr lang="en-US" sz="13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própria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'fotografia' consistente.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2377440" cy="914400"/>
          </a:xfrm>
          <a:prstGeom prst="rect">
            <a:avLst/>
          </a:prstGeom>
          <a:solidFill>
            <a:srgbClr val="3D6B9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Transação </a:t>
            </a: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lê</a:t>
            </a: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Registro V1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17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74720" y="1554480"/>
            <a:ext cx="2377440" cy="914400"/>
          </a:xfrm>
          <a:prstGeom prst="rect">
            <a:avLst/>
          </a:prstGeom>
          <a:solidFill>
            <a:srgbClr val="5A8CB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47472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Transação</a:t>
            </a: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altera registro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309360" y="1554480"/>
            <a:ext cx="2377440" cy="914400"/>
          </a:xfrm>
          <a:prstGeom prst="rect">
            <a:avLst/>
          </a:prstGeom>
          <a:solidFill>
            <a:srgbClr val="38A16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30936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 </a:t>
            </a:r>
            <a:r>
              <a:rPr lang="en-US" sz="1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versão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 criada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3840480" cy="1097280"/>
          </a:xfrm>
          <a:prstGeom prst="rect">
            <a:avLst/>
          </a:prstGeom>
          <a:solidFill>
            <a:srgbClr val="F7FAFC"/>
          </a:solidFill>
          <a:ln w="12700">
            <a:solidFill>
              <a:srgbClr val="38A16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175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8872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Transação</a:t>
            </a:r>
            <a:r>
              <a:rPr lang="en-US" sz="13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continua lendo V1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3152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bloqueio! 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um </a:t>
            </a: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consistente do momento em que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começou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846320" y="2834640"/>
            <a:ext cx="3840480" cy="1097280"/>
          </a:xfrm>
          <a:prstGeom prst="rect">
            <a:avLst/>
          </a:prstGeom>
          <a:solidFill>
            <a:srgbClr val="F7FAFC"/>
          </a:solidFill>
          <a:ln w="12700">
            <a:solidFill>
              <a:srgbClr val="3D6B9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0175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778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D6B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Transação</a:t>
            </a:r>
            <a:r>
              <a:rPr lang="en-US" sz="1300" b="1" dirty="0">
                <a:solidFill>
                  <a:srgbClr val="3D6B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 trabalha com V2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2064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nova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só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outras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após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COMMIT.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B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/>
          <p:nvPr/>
        </p:nvSpPr>
        <p:spPr>
          <a:xfrm>
            <a:off x="64008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</a:t>
            </a: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fundamental: 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Leitores nunca bloqueiam escritores. Escritores nunca bloqueiam leitores.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7DB770B-FF41-4BB2-BD2E-027D66728EE9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fld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Locking vs Versioning: </a:t>
            </a:r>
            <a:r>
              <a:rPr lang="en-US" sz="22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Comparação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Direta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622533"/>
              </p:ext>
            </p:extLst>
          </p:nvPr>
        </p:nvGraphicFramePr>
        <p:xfrm>
          <a:off x="457200" y="914400"/>
          <a:ext cx="8229600" cy="3246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Versioning (MVCC)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1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vs Escrita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Leitores bloqueiam escritores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bloqueio mútuo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Gerenciamento de 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 de versões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Frequentes sob carga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Raros ou inexistentes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Leituras longas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Podem causar timeouts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 prejudicadas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Desfaz alterações in-place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 versão criada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Lixo/Cleanup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necessário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Garbage Collection necessário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(conceito simples)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(gestão de versões)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9411FFE8-8505-4CB0-ABDA-07A157A948C0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fld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6B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2C4A6E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Versioning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</a:t>
            </a:r>
            <a:r>
              <a:rPr lang="en-US" sz="140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visibilidade e snapshots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Conceito Central do Versioning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EBF4FF"/>
          </a:solidFill>
          <a:ln w="12700">
            <a:solidFill>
              <a:srgbClr val="3D6B9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008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Nunca sobrescrever. Sempre criar uma nova </a:t>
            </a:r>
            <a:r>
              <a:rPr lang="en-US" sz="16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versão</a:t>
            </a:r>
            <a:r>
              <a:rPr lang="en-US" sz="1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um registro, o banco cria uma nova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alterar a existente.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antiga permanece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outras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ainda precisam dela.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Firebird (MGA - </a:t>
            </a:r>
            <a:r>
              <a:rPr lang="en-US" sz="1400" b="1" u="sng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ulti-</a:t>
            </a:r>
            <a:r>
              <a:rPr lang="en-US" sz="1400" b="1" u="sng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enerational </a:t>
            </a:r>
            <a:r>
              <a:rPr lang="en-US" sz="1400" b="1" u="sng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rchitecture):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560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possui metadados de controle (Transaction ID de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ponteiro para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anterior)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antigas formam uma cadeia ligada (back versions) armazenada nas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próprias páginas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0332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657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Inventory Page (TIP) rastreia o estado de cada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ativa, committed, rolled back ou limbo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5196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4206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 TIP para decidir qual </a:t>
            </a:r>
            <a:r>
              <a:rPr lang="en-US" sz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registro deve enxergar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A8C82A3B-217D-4652-A9F4-C3348F1FDC03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fld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Cadeia de </a:t>
            </a:r>
            <a:r>
              <a:rPr lang="en-US" sz="22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Versões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(Version Chain)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en-US" sz="13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</a:t>
            </a:r>
            <a:r>
              <a:rPr lang="en-US" sz="13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 </a:t>
            </a:r>
            <a:r>
              <a:rPr lang="en-US" sz="13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 (atual)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Trx #150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13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R$ 8.000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01752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337560" y="137160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D6B9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3337560" y="1371600"/>
            <a:ext cx="2560320" cy="365760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333756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 (back)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204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Trx #120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204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13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R$ 7.000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52044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9788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217920" y="137160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71809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(back)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Trx #100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13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R$ 6.000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64008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 cadeia funciona: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3703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ponteiro do registro aponta sempre para 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mais recente (V3)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possui um ponteiro para 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anterior (back pointer)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Firebird, todas as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ficam nas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(in-line storage)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percorre a cadeia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encontrar 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atual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F73250C-70B1-414C-8472-BA8C29EE306B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fld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3D6B99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Transações 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3200" dirty="0"/>
          </a:p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Níveis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Isolamento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40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coração </a:t>
            </a: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controle de </a:t>
            </a:r>
            <a:r>
              <a:rPr lang="en-US" sz="140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Transações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O </a:t>
            </a:r>
            <a:r>
              <a:rPr lang="en-US" sz="22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Coração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do MVCC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modelo versioning, </a:t>
            </a: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gira em torno de </a:t>
            </a:r>
            <a:r>
              <a:rPr lang="en-US" sz="13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Cada </a:t>
            </a:r>
            <a:r>
              <a:rPr lang="en-US" sz="13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acontece dentro de uma </a:t>
            </a:r>
            <a:r>
              <a:rPr lang="en-US" sz="13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define sua </a:t>
            </a:r>
            <a:r>
              <a:rPr lang="en-US" sz="13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banco (</a:t>
            </a:r>
            <a:r>
              <a:rPr lang="en-US" sz="13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1097280" y="1691640"/>
            <a:ext cx="640080" cy="640080"/>
          </a:xfrm>
          <a:prstGeom prst="ellipse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097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6B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Atomicidade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ou nada. Ou todas as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 são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aplicadas, ou nenhuma.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0" y="155448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200400" y="1691640"/>
            <a:ext cx="640080" cy="640080"/>
          </a:xfrm>
          <a:prstGeom prst="ellipse">
            <a:avLst/>
          </a:prstGeom>
          <a:solidFill>
            <a:srgbClr val="5A8C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2004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65176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5A8C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Consistência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5176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vai de um estado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outro estado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155448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303520" y="169164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303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475488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Isolamento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interferem umas nas outras.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66560" y="155448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7406640" y="1691640"/>
            <a:ext cx="640080" cy="640080"/>
          </a:xfrm>
          <a:prstGeom prst="ellipse">
            <a:avLst/>
          </a:prstGeom>
          <a:solidFill>
            <a:srgbClr val="2C4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7406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85800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4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Durabilidade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5800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COMMIT, os dados sobrevivem a falhas.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BF4FF"/>
          </a:solidFill>
          <a:ln w="12700">
            <a:solidFill>
              <a:srgbClr val="1A365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64008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Firebird: </a:t>
            </a:r>
            <a:r>
              <a:rPr lang="pt-BR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nível da API nativa, </a:t>
            </a:r>
            <a:r>
              <a:rPr lang="pt-BR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operação requer transação explícita</a:t>
            </a:r>
            <a:r>
              <a:rPr lang="pt-BR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Bibliotecas e drivers de alto nível frequentemente implementam gerenciamento implícito (por conveniência).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B1DFF00-20CF-43B5-891F-78413933EA04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fld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Estados de uma </a:t>
            </a:r>
            <a:r>
              <a:rPr lang="en-US" sz="22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Transação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no Firebird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566160" y="1005840"/>
            <a:ext cx="2011680" cy="1097280"/>
          </a:xfrm>
          <a:prstGeom prst="rect">
            <a:avLst/>
          </a:prstGeom>
          <a:solidFill>
            <a:srgbClr val="3D6B9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566160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6616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2560320"/>
            <a:ext cx="2011680" cy="1097280"/>
          </a:xfrm>
          <a:prstGeom prst="rect">
            <a:avLst/>
          </a:prstGeom>
          <a:solidFill>
            <a:srgbClr val="38A16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91440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Committed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passam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ser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visíveis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2560320"/>
            <a:ext cx="2011680" cy="1097280"/>
          </a:xfrm>
          <a:prstGeom prst="rect">
            <a:avLst/>
          </a:prstGeom>
          <a:solidFill>
            <a:srgbClr val="E53E3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Rolled Back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Desfeita, </a:t>
            </a: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serão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descartadas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28600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COMMIT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↘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566160" y="2560320"/>
            <a:ext cx="2011680" cy="822960"/>
          </a:xfrm>
          <a:prstGeom prst="rect">
            <a:avLst/>
          </a:prstGeom>
          <a:solidFill>
            <a:srgbClr val="F7FAFC"/>
          </a:solidFill>
          <a:ln w="12700">
            <a:solidFill>
              <a:srgbClr val="DD6B2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356616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Limbo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6616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commit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3703320"/>
            <a:ext cx="822960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4008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Inventory Page (TIP)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4069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Firebird usa apenas 2 bits por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TIP para armazenar o estado (active=0, limbo=1, dead=2, committed=3)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TIP é consultada para determinar a visibilidade de cada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registro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importantes: Oldest Active Transaction (OAT), Oldest Interesting Transaction (OIT), Oldest Snapshot (OST)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3EFDA2B5-A36B-45BB-812B-310E040FB0C7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fld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Níveis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Isolamento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682229"/>
              </p:ext>
            </p:extLst>
          </p:nvPr>
        </p:nvGraphicFramePr>
        <p:xfrm>
          <a:off x="457200" y="914400"/>
          <a:ext cx="8229600" cy="21945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Dirty 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Non-Repeatable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Skew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Firebird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Uncommitted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suportado</a:t>
                      </a: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Committed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 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(Snapshot)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Possível**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Possível***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(SNAPSHOT)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Impedido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(SNAPSHOT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STABILITY)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Firebird nunca permite dirty reads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No Firebird SNAPSHOT, phantoms </a:t>
            </a:r>
            <a:r>
              <a:rPr lang="en-US" sz="10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efetivamente impedidos pois a </a:t>
            </a:r>
            <a:r>
              <a:rPr lang="en-US" sz="10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congelada no </a:t>
            </a:r>
            <a:r>
              <a:rPr lang="en-US" sz="10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</a:t>
            </a:r>
            <a:r>
              <a:rPr lang="en-US" sz="10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endParaRPr lang="en-US" sz="1000" i="1" dirty="0">
              <a:solidFill>
                <a:srgbClr val="71809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 Write Skew: duas </a:t>
            </a:r>
            <a:r>
              <a:rPr lang="en-US" sz="1000" i="1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r>
              <a:rPr lang="en-US" sz="10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leem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dados, alteram </a:t>
            </a:r>
            <a:r>
              <a:rPr lang="en-US" sz="1000" i="1" dirty="0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00" i="1" dirty="0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comitam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violando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000" i="1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r>
              <a:rPr lang="en-US" sz="10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SNAPSHOT TABLE STABILITY impede esse </a:t>
            </a:r>
            <a:r>
              <a:rPr lang="en-US" sz="1000" i="1" err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Firebird.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EB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640080" y="3931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Modos de isolamento no Firebird: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420624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dados committed de outras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statement. Pode usar [NO] RECORD VERSION,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READ_CONSISTENCY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 do banco no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Ideal para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TABLE STABILITY: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SNAPSHOT mas com locks exclusivos nas tabelas acessadas. Impede Write Skew.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CCC211D-51A2-4A14-A4BE-AD71E47609F8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fld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Committed no Firebird e </a:t>
            </a:r>
            <a:r>
              <a:rPr lang="en-US" sz="22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seus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modos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2621280" cy="292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38A16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57200" y="914400"/>
            <a:ext cx="2621280" cy="45720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57200" y="914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VERSION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1508760"/>
            <a:ext cx="2392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encontra um registro sendo modificado por outra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versão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committed sem esperar.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860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bloqueia leituras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5176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ler </a:t>
            </a:r>
            <a:r>
              <a:rPr lang="en-US" sz="110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anterior do registro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94360" y="3200400"/>
            <a:ext cx="239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OLTP de alta </a:t>
            </a:r>
            <a:r>
              <a:rPr lang="en-US" sz="10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261360" y="914400"/>
            <a:ext cx="2621280" cy="292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DD6B2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3261360" y="914400"/>
            <a:ext cx="2621280" cy="457200"/>
          </a:xfrm>
          <a:prstGeom prst="rect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3261360" y="914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RECORD VERSION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398520" y="1508760"/>
            <a:ext cx="2392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encontra um registro sendo modificado, aguarda a outra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terminar (commit ou rollback).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8520" y="228600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7284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</a:t>
            </a:r>
            <a:r>
              <a:rPr lang="en-US" sz="110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</a:t>
            </a: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0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mais recente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8520" y="265176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7284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causar espera (wait) ou conflitos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398520" y="3200400"/>
            <a:ext cx="239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</a:t>
            </a:r>
            <a:r>
              <a:rPr lang="en-US" sz="10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exigem dados atualizados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065520" y="914400"/>
            <a:ext cx="2621280" cy="292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2"/>
          <p:cNvSpPr/>
          <p:nvPr/>
        </p:nvSpPr>
        <p:spPr>
          <a:xfrm>
            <a:off x="6065520" y="914400"/>
            <a:ext cx="2621280" cy="4572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3"/>
          <p:cNvSpPr/>
          <p:nvPr/>
        </p:nvSpPr>
        <p:spPr>
          <a:xfrm>
            <a:off x="6065520" y="914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CONSISTENCY</a:t>
            </a:r>
            <a:endParaRPr lang="en-US" sz="1500"/>
          </a:p>
          <a:p>
            <a:pPr marL="0" indent="0" algn="ctr">
              <a:buNone/>
            </a:pPr>
            <a:r>
              <a:rPr lang="en-US" sz="90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4+</a:t>
            </a:r>
            <a:endParaRPr lang="en-US" sz="900"/>
          </a:p>
        </p:txBody>
      </p:sp>
      <p:sp>
        <p:nvSpPr>
          <p:cNvPr id="31" name="Text 24"/>
          <p:cNvSpPr/>
          <p:nvPr/>
        </p:nvSpPr>
        <p:spPr>
          <a:xfrm>
            <a:off x="6202680" y="1508760"/>
            <a:ext cx="2392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tirado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statement e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80" y="2286000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7700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consistente sem bloqueio</a:t>
            </a:r>
            <a:endParaRPr lang="en-US" sz="110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680" y="2651760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4770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</a:t>
            </a: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Firebird 4.0 </a:t>
            </a:r>
            <a:r>
              <a:rPr lang="en-US" sz="1100" dirty="0" err="1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superior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6202680" y="3200400"/>
            <a:ext cx="239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substituição moderna do RECORD VERSION</a:t>
            </a:r>
            <a:endParaRPr lang="en-US" sz="1000"/>
          </a:p>
        </p:txBody>
      </p:sp>
      <p:sp>
        <p:nvSpPr>
          <p:cNvPr id="24" name="Shape 17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18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por statement: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modo Read Committed, o Firebird cria um novo snapshot a cada comando SQL. RECORD VERSION e NO RECORD VERSION podem ver dados diferentes entre SELECTs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consecutivos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READ CONSISTENCY (Firebird 4+)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mantem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snapshot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statement.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5F495C53-B3F8-41B2-A71D-734CEF34478A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fld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 (Repeatable Read) no Firebird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de uma </a:t>
            </a:r>
            <a:r>
              <a:rPr lang="en-US" sz="14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Transação</a:t>
            </a: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Snapshot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7863840" cy="73152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914400" y="1554480"/>
            <a:ext cx="228600" cy="228600"/>
          </a:xfrm>
          <a:prstGeom prst="ellipse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D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17520" y="1554480"/>
            <a:ext cx="228600" cy="22860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2743200" y="1874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trx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UPDATE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20640" y="1554480"/>
            <a:ext cx="228600" cy="228600"/>
          </a:xfrm>
          <a:prstGeom prst="ellipse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846320" y="1874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trx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COMMIT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223760" y="155448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949440" y="1874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 dados antigos!)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468880"/>
            <a:ext cx="38404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3D6B9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400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2880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Firebird registra quais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estão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ativas no momento do BEGIN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 dados de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antes do BEGIN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Mudancas de outras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são invisíveis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mesmo que committed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2468880"/>
            <a:ext cx="38404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38A16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02920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usar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2880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Relatorios que precisam de dados consistentes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longas de leitura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snapshots </a:t>
            </a:r>
            <a:r>
              <a:rPr lang="en-US" sz="1100" dirty="0" err="1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longos</a:t>
            </a: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bloqueiam</a:t>
            </a: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coleta de lixo!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5E6C7E3-C14F-47C3-8A4D-873F525DB39F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fld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Visibilidade das </a:t>
            </a:r>
            <a:r>
              <a:rPr lang="en-US" sz="22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Versões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Registro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enxerga? </a:t>
            </a: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</a:t>
            </a:r>
            <a:r>
              <a:rPr lang="en-US" sz="12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isolamento e do estado da </a:t>
            </a:r>
            <a:r>
              <a:rPr lang="en-US" sz="12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criou a </a:t>
            </a:r>
            <a:r>
              <a:rPr lang="en-US" sz="12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560320" cy="182880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00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Trx #200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(Read Committed)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" y="2606040"/>
            <a:ext cx="20116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54864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V2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b="1" dirty="0" err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</a:t>
            </a: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comitada</a:t>
            </a: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 err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Trx</a:t>
            </a: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#150 </a:t>
            </a:r>
            <a:r>
              <a:rPr lang="en-US" sz="1100" b="1" dirty="0" err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comitar</a:t>
            </a: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 err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</a:t>
            </a: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00" b="1" dirty="0" err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V3)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37560" y="1463040"/>
            <a:ext cx="2560320" cy="182880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002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Trx #180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(Snapshot desde #170)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611880" y="2606040"/>
            <a:ext cx="20116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342900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V2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D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(committed antes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D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BEGIN)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17920" y="1463040"/>
            <a:ext cx="2560320" cy="182880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002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0936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Trx #150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(criou V3, </a:t>
            </a:r>
            <a:r>
              <a:rPr lang="en-US" sz="11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ativa</a:t>
            </a: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92240" y="2606040"/>
            <a:ext cx="20116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5"/>
          <p:cNvSpPr/>
          <p:nvPr/>
        </p:nvSpPr>
        <p:spPr>
          <a:xfrm>
            <a:off x="630936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V3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(suas </a:t>
            </a:r>
            <a:r>
              <a:rPr lang="en-US" sz="1100" b="1" dirty="0" err="1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</a:t>
            </a: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/>
          <p:nvPr/>
        </p:nvSpPr>
        <p:spPr>
          <a:xfrm>
            <a:off x="64008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 de </a:t>
            </a:r>
            <a:r>
              <a:rPr lang="en-US" sz="12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Visibilidade</a:t>
            </a:r>
            <a:r>
              <a:rPr lang="en-US" sz="1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3977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 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mais recente do registro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Consulta a TIP para verificar o estado da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criou essa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 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criadora estiver committed **e** for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atual -&gt; usa esta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percorre a cadeia de back versions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encontrar uma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2306323A-AC6B-4E14-9B90-4AAC4A7FA2E8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fld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554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Linha do Tempo: Duas </a:t>
            </a:r>
            <a:r>
              <a:rPr lang="en-US" sz="2000" b="1" dirty="0" err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Transações</a:t>
            </a:r>
            <a:r>
              <a:rPr lang="en-US" sz="2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Registro: </a:t>
            </a:r>
            <a:r>
              <a:rPr lang="en-US" sz="11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 </a:t>
            </a: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ID=1  |  </a:t>
            </a:r>
            <a:r>
              <a:rPr lang="en-US" sz="11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</a:t>
            </a: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R$ 5.000 (committed por Trx #100)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822960" cy="41148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274320" y="10972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Trx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#200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1645920"/>
            <a:ext cx="822960" cy="411480"/>
          </a:xfrm>
          <a:prstGeom prst="rect">
            <a:avLst/>
          </a:prstGeom>
          <a:solidFill>
            <a:srgbClr val="9B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74320" y="1645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Trx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188720" y="1051560"/>
            <a:ext cx="7680960" cy="502920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1188720" y="1600200"/>
            <a:ext cx="7680960" cy="50292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371600" y="960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28800" y="1051560"/>
            <a:ext cx="0" cy="1051560"/>
          </a:xfrm>
          <a:prstGeom prst="line">
            <a:avLst/>
          </a:prstGeom>
          <a:noFill/>
          <a:ln w="635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2560320" y="960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017520" y="1051560"/>
            <a:ext cx="0" cy="1051560"/>
          </a:xfrm>
          <a:prstGeom prst="line">
            <a:avLst/>
          </a:prstGeom>
          <a:noFill/>
          <a:ln w="635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3840480" y="960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97680" y="1051560"/>
            <a:ext cx="0" cy="1051560"/>
          </a:xfrm>
          <a:prstGeom prst="line">
            <a:avLst/>
          </a:prstGeom>
          <a:noFill/>
          <a:ln w="635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120640" y="960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77840" y="1051560"/>
            <a:ext cx="0" cy="1051560"/>
          </a:xfrm>
          <a:prstGeom prst="line">
            <a:avLst/>
          </a:prstGeom>
          <a:noFill/>
          <a:ln w="635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400800" y="960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58000" y="1051560"/>
            <a:ext cx="0" cy="1051560"/>
          </a:xfrm>
          <a:prstGeom prst="line">
            <a:avLst/>
          </a:prstGeom>
          <a:noFill/>
          <a:ln w="635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680960" y="960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T6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138160" y="1051560"/>
            <a:ext cx="0" cy="1051560"/>
          </a:xfrm>
          <a:prstGeom prst="line">
            <a:avLst/>
          </a:prstGeom>
          <a:noFill/>
          <a:ln w="635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1371600" y="1097280"/>
            <a:ext cx="1005840" cy="384048"/>
          </a:xfrm>
          <a:prstGeom prst="rect">
            <a:avLst/>
          </a:prstGeom>
          <a:solidFill>
            <a:srgbClr val="2B6CB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1371600" y="11155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560320" y="1645920"/>
            <a:ext cx="1005840" cy="384048"/>
          </a:xfrm>
          <a:prstGeom prst="rect">
            <a:avLst/>
          </a:prstGeom>
          <a:solidFill>
            <a:srgbClr val="9B2C2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2560320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840480" y="1097280"/>
            <a:ext cx="1005840" cy="384048"/>
          </a:xfrm>
          <a:prstGeom prst="rect">
            <a:avLst/>
          </a:prstGeom>
          <a:solidFill>
            <a:srgbClr val="DD6B2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3840480" y="11155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=6.000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120640" y="1645920"/>
            <a:ext cx="1005840" cy="384048"/>
          </a:xfrm>
          <a:prstGeom prst="rect">
            <a:avLst/>
          </a:prstGeom>
          <a:solidFill>
            <a:srgbClr val="805AD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5120640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= ?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400800" y="1097280"/>
            <a:ext cx="1005840" cy="384048"/>
          </a:xfrm>
          <a:prstGeom prst="rect">
            <a:avLst/>
          </a:prstGeom>
          <a:solidFill>
            <a:srgbClr val="38A16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6400800" y="11155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680960" y="1645920"/>
            <a:ext cx="1005840" cy="384048"/>
          </a:xfrm>
          <a:prstGeom prst="rect">
            <a:avLst/>
          </a:prstGeom>
          <a:solidFill>
            <a:srgbClr val="805AD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7680960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= ?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57200" y="2240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Versões</a:t>
            </a: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do registro em cada momento: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749040" y="2514600"/>
            <a:ext cx="11887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6B2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3749040" y="25328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criada</a:t>
            </a:r>
            <a:endParaRPr lang="en-US" sz="800" dirty="0"/>
          </a:p>
          <a:p>
            <a:pPr marL="0" indent="0" algn="ctr">
              <a:buNone/>
            </a:pPr>
            <a:r>
              <a:rPr lang="en-US" sz="80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</a:t>
            </a:r>
            <a:r>
              <a:rPr lang="en-US" sz="8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6.000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80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8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committed)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029200" y="2514600"/>
            <a:ext cx="11887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5029200" y="25328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ve V1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</a:t>
            </a:r>
            <a:r>
              <a:rPr lang="en-US" sz="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5.000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</a:t>
            </a:r>
            <a:r>
              <a:rPr lang="en-US" sz="800" b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committed)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309360" y="2514600"/>
            <a:ext cx="11887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6309360" y="25328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committed</a:t>
            </a:r>
            <a:endParaRPr lang="en-US" sz="800" dirty="0"/>
          </a:p>
          <a:p>
            <a:pPr marL="0" indent="0" algn="ctr">
              <a:buNone/>
            </a:pPr>
            <a:r>
              <a:rPr lang="en-US" sz="80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</a:t>
            </a: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6.000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80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</a:t>
            </a: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p/ novos)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7589520" y="2514600"/>
            <a:ext cx="11887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Text 42"/>
          <p:cNvSpPr/>
          <p:nvPr/>
        </p:nvSpPr>
        <p:spPr>
          <a:xfrm>
            <a:off x="7589520" y="253288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AINDA ve V1!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</a:t>
            </a:r>
            <a:r>
              <a:rPr lang="en-US" sz="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5.000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(snapshot congelado)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383280"/>
            <a:ext cx="2560320" cy="141732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93008"/>
            <a:ext cx="228600" cy="22860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868680" y="3474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6C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B ve R$ 5.000 em T4?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594360" y="3840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9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V2 (R$ 6.000) </a:t>
            </a:r>
            <a:r>
              <a:rPr lang="en-US" sz="9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commitada, </a:t>
            </a:r>
            <a:r>
              <a:rPr lang="en-US" sz="9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portanto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enxergá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-la.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3291840" y="3383280"/>
            <a:ext cx="2560320" cy="1417320"/>
          </a:xfrm>
          <a:prstGeom prst="rect">
            <a:avLst/>
          </a:prstGeom>
          <a:solidFill>
            <a:srgbClr val="F7FAFC"/>
          </a:solidFill>
          <a:ln w="19050">
            <a:solidFill>
              <a:srgbClr val="E53E3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493008"/>
            <a:ext cx="228600" cy="22860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3703320" y="3474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B AINDA ve R$ 5.000 em T6?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3429000" y="3840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</a:t>
            </a: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COMMIT de A, o snapshot de B foi congelado no momento do BEGIN (T2). B nunca vera mudancas posteriores.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6126480" y="3383280"/>
            <a:ext cx="2560320" cy="1417320"/>
          </a:xfrm>
          <a:prstGeom prst="rect">
            <a:avLst/>
          </a:prstGeom>
          <a:solidFill>
            <a:srgbClr val="F7FAFC"/>
          </a:solidFill>
          <a:ln w="19050">
            <a:solidFill>
              <a:srgbClr val="9B2C2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493008"/>
            <a:ext cx="228600" cy="228600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6537960" y="3474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se B tentar fazer UPDATE?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6263640" y="3840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CONFLITO! O Firebird detecta que A </a:t>
            </a:r>
            <a:r>
              <a:rPr lang="en-US" sz="9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modificou e fez commit desse registro. B precisa fazer rollback e </a:t>
            </a:r>
            <a:r>
              <a:rPr lang="en-US" sz="9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retentar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9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b="1" i="1" dirty="0"/>
              <a:t>First-committer-wins</a:t>
            </a:r>
          </a:p>
        </p:txBody>
      </p:sp>
      <p:sp>
        <p:nvSpPr>
          <p:cNvPr id="58" name="Text 5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53B5E9E4-43F7-4680-9C92-C232B1C73084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fld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Title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Conflict vs Deadlock no Firebird</a:t>
            </a:r>
            <a:endParaRPr lang="pt-BR" sz="2200"/>
          </a:p>
        </p:txBody>
      </p:sp>
      <p:sp>
        <p:nvSpPr>
          <p:cNvPr id="4" name="Shape Line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Card Left BG"/>
          <p:cNvSpPr/>
          <p:nvPr/>
        </p:nvSpPr>
        <p:spPr>
          <a:xfrm>
            <a:off x="457200" y="777240"/>
            <a:ext cx="4023360" cy="3520440"/>
          </a:xfrm>
          <a:prstGeom prst="roundRect">
            <a:avLst>
              <a:gd name="adj" fmla="val 3000"/>
            </a:avLst>
          </a:prstGeom>
          <a:solidFill>
            <a:srgbClr val="F7FAFC"/>
          </a:solidFill>
          <a:ln w="12700">
            <a:solidFill>
              <a:srgbClr val="E53E3E">
                <a:alpha val="40000"/>
              </a:srgbClr>
            </a:solidFill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Card Left Title"/>
          <p:cNvSpPr/>
          <p:nvPr/>
        </p:nvSpPr>
        <p:spPr>
          <a:xfrm>
            <a:off x="6400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Conflict</a:t>
            </a:r>
            <a:endParaRPr lang="en-US" sz="1600"/>
          </a:p>
        </p:txBody>
      </p:sp>
      <p:sp>
        <p:nvSpPr>
          <p:cNvPr id="7" name="Card Left Def"/>
          <p:cNvSpPr/>
          <p:nvPr/>
        </p:nvSpPr>
        <p:spPr>
          <a:xfrm>
            <a:off x="64008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Ocorre quando uma transação tenta alterar/excluir um registro que já foi alterado por outra transação concorrente. Em SNAPSHOT, se a outra transação confirmou uma versão mais nova, a transação antiga não pode gravar sobre ela e recebe erro de conflito.</a:t>
            </a:r>
            <a:endParaRPr lang="pt-BR" sz="1100" dirty="0"/>
          </a:p>
        </p:txBody>
      </p:sp>
      <p:sp>
        <p:nvSpPr>
          <p:cNvPr id="8" name="Card Left ExLabel"/>
          <p:cNvSpPr/>
          <p:nvPr/>
        </p:nvSpPr>
        <p:spPr>
          <a:xfrm>
            <a:off x="640080" y="20220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prático:</a:t>
            </a:r>
            <a:endParaRPr lang="pt-BR" sz="1100" dirty="0"/>
          </a:p>
        </p:txBody>
      </p:sp>
      <p:sp>
        <p:nvSpPr>
          <p:cNvPr id="9" name="Card Left Example"/>
          <p:cNvSpPr/>
          <p:nvPr/>
        </p:nvSpPr>
        <p:spPr>
          <a:xfrm>
            <a:off x="640080" y="2250684"/>
            <a:ext cx="3657600" cy="98298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00"/>
              </a:spcAft>
              <a:buFont typeface="+mj-lt"/>
              <a:buAutoNum type="arabicPeriod"/>
            </a:pPr>
            <a:r>
              <a:rPr lang="pt-BR" sz="1000" dirty="0" err="1">
                <a:solidFill>
                  <a:srgbClr val="2D3748"/>
                </a:solidFill>
                <a:latin typeface="Calibri" pitchFamily="34" charset="0"/>
              </a:rPr>
              <a:t>Trx</a:t>
            </a: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 B começa em SNAPSHOT e lê V1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</a:pPr>
            <a:r>
              <a:rPr lang="pt-BR" sz="1000" dirty="0" err="1">
                <a:solidFill>
                  <a:srgbClr val="2D3748"/>
                </a:solidFill>
                <a:latin typeface="Calibri" pitchFamily="34" charset="0"/>
              </a:rPr>
              <a:t>Trx</a:t>
            </a: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 A faz UPDATE no registro X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</a:pPr>
            <a:r>
              <a:rPr lang="pt-BR" sz="1000" dirty="0" err="1">
                <a:solidFill>
                  <a:srgbClr val="2D3748"/>
                </a:solidFill>
                <a:latin typeface="Calibri" pitchFamily="34" charset="0"/>
              </a:rPr>
              <a:t>Trx</a:t>
            </a: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 A faz COMMIT → cria V2 committed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</a:pPr>
            <a:r>
              <a:rPr lang="pt-BR" sz="1000" dirty="0" err="1">
                <a:solidFill>
                  <a:srgbClr val="2D3748"/>
                </a:solidFill>
                <a:latin typeface="Calibri" pitchFamily="34" charset="0"/>
              </a:rPr>
              <a:t>Trx</a:t>
            </a: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 B tenta UPDATE no mesmo registro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FF0000"/>
                </a:solidFill>
                <a:latin typeface="Calibri" pitchFamily="34" charset="0"/>
              </a:rPr>
              <a:t>ERRO: "</a:t>
            </a:r>
            <a:r>
              <a:rPr lang="pt-BR" sz="1000" i="1" dirty="0">
                <a:solidFill>
                  <a:srgbClr val="FF0000"/>
                </a:solidFill>
                <a:latin typeface="Calibri" pitchFamily="34" charset="0"/>
              </a:rPr>
              <a:t>deadlock</a:t>
            </a:r>
            <a:r>
              <a:rPr lang="pt-BR" sz="1000" dirty="0">
                <a:solidFill>
                  <a:srgbClr val="FF0000"/>
                </a:solidFill>
                <a:latin typeface="Calibri" pitchFamily="34" charset="0"/>
              </a:rPr>
              <a:t> / update </a:t>
            </a:r>
            <a:r>
              <a:rPr lang="pt-BR" sz="1000" dirty="0" err="1">
                <a:solidFill>
                  <a:srgbClr val="FF0000"/>
                </a:solidFill>
                <a:latin typeface="Calibri" pitchFamily="34" charset="0"/>
              </a:rPr>
              <a:t>conflict</a:t>
            </a:r>
            <a:r>
              <a:rPr lang="pt-BR" sz="1000" dirty="0">
                <a:solidFill>
                  <a:srgbClr val="FF0000"/>
                </a:solidFill>
                <a:latin typeface="Calibri" pitchFamily="34" charset="0"/>
              </a:rPr>
              <a:t>"</a:t>
            </a:r>
            <a:endParaRPr lang="pt-BR" sz="10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0" name="Card Left FB"/>
          <p:cNvSpPr/>
          <p:nvPr/>
        </p:nvSpPr>
        <p:spPr>
          <a:xfrm>
            <a:off x="640080" y="3256524"/>
            <a:ext cx="3657600" cy="101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pt-BR" sz="1000" b="1" dirty="0">
                <a:solidFill>
                  <a:srgbClr val="3D6B99"/>
                </a:solidFill>
                <a:latin typeface="Trebuchet MS" pitchFamily="34" charset="0"/>
              </a:rPr>
              <a:t>Comportamento no Firebird:</a:t>
            </a:r>
          </a:p>
          <a:p>
            <a:pPr marL="171450" indent="-171450">
              <a:spcAft>
                <a:spcPts val="300"/>
              </a:spcAft>
              <a:buChar char="•"/>
            </a:pP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Regra </a:t>
            </a:r>
            <a:r>
              <a:rPr lang="en-US" sz="1000" b="1" dirty="0">
                <a:solidFill>
                  <a:srgbClr val="2D3748"/>
                </a:solidFill>
                <a:latin typeface="Calibri" pitchFamily="34" charset="0"/>
              </a:rPr>
              <a:t>first-committer-wins</a:t>
            </a:r>
          </a:p>
          <a:p>
            <a:pPr marL="171450" indent="-171450">
              <a:spcAft>
                <a:spcPts val="300"/>
              </a:spcAft>
              <a:buChar char="•"/>
            </a:pP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Não envolve espera circular entre transações</a:t>
            </a:r>
          </a:p>
          <a:p>
            <a:pPr marL="171450" indent="-171450">
              <a:spcAft>
                <a:spcPts val="300"/>
              </a:spcAft>
              <a:buChar char="•"/>
            </a:pP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Comum em modo </a:t>
            </a:r>
            <a:r>
              <a:rPr lang="en-US" sz="1000" b="1" dirty="0">
                <a:solidFill>
                  <a:srgbClr val="2D3748"/>
                </a:solidFill>
                <a:latin typeface="Calibri" pitchFamily="34" charset="0"/>
              </a:rPr>
              <a:t>SNAPSHOT</a:t>
            </a:r>
          </a:p>
          <a:p>
            <a:pPr marL="171450" indent="-171450">
              <a:buChar char="•"/>
            </a:pP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Solução: rollback + </a:t>
            </a:r>
            <a:r>
              <a:rPr lang="pt-BR" sz="1000" dirty="0" err="1">
                <a:solidFill>
                  <a:srgbClr val="2D3748"/>
                </a:solidFill>
                <a:latin typeface="Calibri" pitchFamily="34" charset="0"/>
              </a:rPr>
              <a:t>retry</a:t>
            </a: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 da transação</a:t>
            </a:r>
          </a:p>
        </p:txBody>
      </p:sp>
      <p:sp>
        <p:nvSpPr>
          <p:cNvPr id="11" name="Card Right BG"/>
          <p:cNvSpPr/>
          <p:nvPr/>
        </p:nvSpPr>
        <p:spPr>
          <a:xfrm>
            <a:off x="4663440" y="777240"/>
            <a:ext cx="4023360" cy="3520440"/>
          </a:xfrm>
          <a:prstGeom prst="roundRect">
            <a:avLst>
              <a:gd name="adj" fmla="val 3000"/>
            </a:avLst>
          </a:prstGeom>
          <a:solidFill>
            <a:srgbClr val="F7FAFC"/>
          </a:solidFill>
          <a:ln w="12700">
            <a:solidFill>
              <a:srgbClr val="DD6B20">
                <a:alpha val="40000"/>
              </a:srgbClr>
            </a:solidFill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Card Right Title"/>
          <p:cNvSpPr/>
          <p:nvPr/>
        </p:nvSpPr>
        <p:spPr>
          <a:xfrm>
            <a:off x="484632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Deadlock (real)</a:t>
            </a:r>
            <a:endParaRPr lang="en-US" sz="1600"/>
          </a:p>
        </p:txBody>
      </p:sp>
      <p:sp>
        <p:nvSpPr>
          <p:cNvPr id="13" name="Card Right Def"/>
          <p:cNvSpPr/>
          <p:nvPr/>
        </p:nvSpPr>
        <p:spPr>
          <a:xfrm>
            <a:off x="484632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Ocorre quando duas transações ficam em </a:t>
            </a:r>
            <a:r>
              <a:rPr lang="pt-BR" sz="1100" b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circular</a:t>
            </a:r>
            <a:r>
              <a:rPr lang="pt-BR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espera B liberar um recurso, enquanto B espera A. Nenhuma pode prosseguir.</a:t>
            </a:r>
            <a:endParaRPr lang="pt-BR" sz="1100"/>
          </a:p>
        </p:txBody>
      </p:sp>
      <p:sp>
        <p:nvSpPr>
          <p:cNvPr id="14" name="Card Right ExLabel"/>
          <p:cNvSpPr/>
          <p:nvPr/>
        </p:nvSpPr>
        <p:spPr>
          <a:xfrm>
            <a:off x="484632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prático:</a:t>
            </a:r>
            <a:endParaRPr lang="pt-BR" sz="1100"/>
          </a:p>
        </p:txBody>
      </p:sp>
      <p:sp>
        <p:nvSpPr>
          <p:cNvPr id="15" name="Card Right Example"/>
          <p:cNvSpPr/>
          <p:nvPr/>
        </p:nvSpPr>
        <p:spPr>
          <a:xfrm>
            <a:off x="4846320" y="2057400"/>
            <a:ext cx="3657600" cy="91440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pt-BR" sz="1000">
                <a:solidFill>
                  <a:srgbClr val="2D3748"/>
                </a:solidFill>
                <a:latin typeface="Calibri" pitchFamily="34" charset="0"/>
              </a:rPr>
              <a:t>1. Trx A faz UPDATE no registro X (segura lock)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pt-BR" sz="1000">
                <a:solidFill>
                  <a:srgbClr val="2D3748"/>
                </a:solidFill>
                <a:latin typeface="Calibri" pitchFamily="34" charset="0"/>
              </a:rPr>
              <a:t>2. Trx B faz UPDATE no registro Y (segura lock)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pt-BR" sz="1000">
                <a:solidFill>
                  <a:srgbClr val="2D3748"/>
                </a:solidFill>
                <a:latin typeface="Calibri" pitchFamily="34" charset="0"/>
              </a:rPr>
              <a:t>3. Trx A tenta UPDATE no registro Y → espera B</a:t>
            </a:r>
          </a:p>
          <a:p>
            <a:pPr marL="0" indent="0">
              <a:buNone/>
            </a:pPr>
            <a:r>
              <a:rPr lang="pt-BR" sz="1000" b="1">
                <a:solidFill>
                  <a:srgbClr val="DD6B20"/>
                </a:solidFill>
                <a:latin typeface="Calibri" pitchFamily="34" charset="0"/>
              </a:rPr>
              <a:t>4. Trx B tenta UPDATE no registro X → espera A = DEADLOCK!</a:t>
            </a:r>
          </a:p>
        </p:txBody>
      </p:sp>
      <p:sp>
        <p:nvSpPr>
          <p:cNvPr id="16" name="Card Right FB"/>
          <p:cNvSpPr/>
          <p:nvPr/>
        </p:nvSpPr>
        <p:spPr>
          <a:xfrm>
            <a:off x="4846320" y="3063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pt-BR" sz="1000" b="1" dirty="0">
                <a:solidFill>
                  <a:srgbClr val="3D6B99"/>
                </a:solidFill>
                <a:latin typeface="Trebuchet MS" pitchFamily="34" charset="0"/>
              </a:rPr>
              <a:t>Comportamento no Firebird:</a:t>
            </a:r>
          </a:p>
          <a:p>
            <a:pPr marL="171450" indent="-171450">
              <a:spcAft>
                <a:spcPts val="300"/>
              </a:spcAft>
              <a:buChar char="•"/>
            </a:pP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MVCC evita </a:t>
            </a:r>
            <a:r>
              <a:rPr lang="pt-BR" sz="1000" dirty="0" err="1">
                <a:solidFill>
                  <a:srgbClr val="2D3748"/>
                </a:solidFill>
                <a:latin typeface="Calibri" pitchFamily="34" charset="0"/>
              </a:rPr>
              <a:t>locks</a:t>
            </a: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 entre leitores e escritores, mas escritores ainda podem bloquear escritores.</a:t>
            </a:r>
          </a:p>
          <a:p>
            <a:pPr marL="171450" indent="-171450">
              <a:spcAft>
                <a:spcPts val="300"/>
              </a:spcAft>
              <a:buChar char="•"/>
            </a:pP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Possível com WAIT + múltiplos registros em ordem diferente</a:t>
            </a:r>
          </a:p>
          <a:p>
            <a:pPr marL="171450" indent="-171450">
              <a:buChar char="•"/>
            </a:pPr>
            <a:r>
              <a:rPr lang="pt-BR" sz="1000" dirty="0">
                <a:solidFill>
                  <a:srgbClr val="2D3748"/>
                </a:solidFill>
                <a:latin typeface="Calibri" pitchFamily="34" charset="0"/>
              </a:rPr>
              <a:t>Solução: ordenar acesso a registros de forma consistente</a:t>
            </a:r>
          </a:p>
        </p:txBody>
      </p:sp>
      <p:sp>
        <p:nvSpPr>
          <p:cNvPr id="17" name="Bottom Bar"/>
          <p:cNvSpPr/>
          <p:nvPr/>
        </p:nvSpPr>
        <p:spPr>
          <a:xfrm>
            <a:off x="457200" y="4389120"/>
            <a:ext cx="8229600" cy="274320"/>
          </a:xfrm>
          <a:prstGeom prst="roundRect">
            <a:avLst>
              <a:gd name="adj" fmla="val 10000"/>
            </a:avLst>
          </a:prstGeom>
          <a:solidFill>
            <a:srgbClr val="2C4A6E"/>
          </a:solidFill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FFFFFF"/>
                </a:solidFill>
                <a:latin typeface="Calibri" pitchFamily="34" charset="0"/>
              </a:rPr>
              <a:t>Atenção: No Firebird a palavra “deadlock” consta na mensagem de erro para ambos os casos — é preciso analisar o cenário para distingui-los!</a:t>
            </a:r>
          </a:p>
        </p:txBody>
      </p:sp>
      <p:sp>
        <p:nvSpPr>
          <p:cNvPr id="18" name="Footer Left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/>
          </a:p>
        </p:txBody>
      </p:sp>
      <p:sp>
        <p:nvSpPr>
          <p:cNvPr id="19" name="Footer Right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CCB4823-16FD-4C5E-99FC-7D91FC894F9B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fld>
            <a:endParaRPr lang="en-US" sz="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1371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Committed vs Snapshot: O Isolamento Muda Tudo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Registro: </a:t>
            </a:r>
            <a:r>
              <a:rPr lang="en-US" sz="10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 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ID=1  |  </a:t>
            </a:r>
            <a:r>
              <a:rPr lang="en-US" sz="10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</a:t>
            </a: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inicial = R$ 5.000 (committed)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8600" y="1051560"/>
            <a:ext cx="1005840" cy="438912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228600" y="10515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Trx A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COMMITTED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28600" y="1572768"/>
            <a:ext cx="1005840" cy="438912"/>
          </a:xfrm>
          <a:prstGeom prst="rect">
            <a:avLst/>
          </a:prstGeom>
          <a:solidFill>
            <a:srgbClr val="9B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28600" y="15727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Trx B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28600" y="2093976"/>
            <a:ext cx="1005840" cy="43891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28600" y="20939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Outras Trx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(externas)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325880" y="1051560"/>
            <a:ext cx="7589520" cy="438912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1325880" y="1572768"/>
            <a:ext cx="7589520" cy="438912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1325880" y="2093976"/>
            <a:ext cx="7589520" cy="438912"/>
          </a:xfrm>
          <a:prstGeom prst="rect">
            <a:avLst/>
          </a:prstGeom>
          <a:solidFill>
            <a:srgbClr val="FA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1417320" y="9144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T1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943100" y="1051560"/>
            <a:ext cx="0" cy="1316736"/>
          </a:xfrm>
          <a:prstGeom prst="line">
            <a:avLst/>
          </a:prstGeom>
          <a:noFill/>
          <a:ln w="508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2606040" y="9144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131820" y="1051560"/>
            <a:ext cx="0" cy="1316736"/>
          </a:xfrm>
          <a:prstGeom prst="line">
            <a:avLst/>
          </a:prstGeom>
          <a:noFill/>
          <a:ln w="508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3794760" y="9144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320540" y="1051560"/>
            <a:ext cx="0" cy="1316736"/>
          </a:xfrm>
          <a:prstGeom prst="line">
            <a:avLst/>
          </a:prstGeom>
          <a:noFill/>
          <a:ln w="508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074920" y="9144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600700" y="1051560"/>
            <a:ext cx="0" cy="1316736"/>
          </a:xfrm>
          <a:prstGeom prst="line">
            <a:avLst/>
          </a:prstGeom>
          <a:noFill/>
          <a:ln w="508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6355080" y="9144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880860" y="1051560"/>
            <a:ext cx="0" cy="1316736"/>
          </a:xfrm>
          <a:prstGeom prst="line">
            <a:avLst/>
          </a:prstGeom>
          <a:noFill/>
          <a:ln w="508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7635240" y="9144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T6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8161020" y="1051560"/>
            <a:ext cx="0" cy="1316736"/>
          </a:xfrm>
          <a:prstGeom prst="line">
            <a:avLst/>
          </a:prstGeom>
          <a:noFill/>
          <a:ln w="508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1417320" y="1088136"/>
            <a:ext cx="1005840" cy="365760"/>
          </a:xfrm>
          <a:prstGeom prst="rect">
            <a:avLst/>
          </a:prstGeom>
          <a:solidFill>
            <a:srgbClr val="2B6CB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1417320" y="10881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COMMITTED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606040" y="1609344"/>
            <a:ext cx="1005840" cy="365760"/>
          </a:xfrm>
          <a:prstGeom prst="rect">
            <a:avLst/>
          </a:prstGeom>
          <a:solidFill>
            <a:srgbClr val="9B2C2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2606040" y="16093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3794760" y="2130552"/>
            <a:ext cx="1005840" cy="365760"/>
          </a:xfrm>
          <a:prstGeom prst="rect">
            <a:avLst/>
          </a:prstGeom>
          <a:solidFill>
            <a:srgbClr val="6B46C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3794760" y="21305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+ COMMIT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= 6.000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5074920" y="1088136"/>
            <a:ext cx="1005840" cy="365760"/>
          </a:xfrm>
          <a:prstGeom prst="rect">
            <a:avLst/>
          </a:prstGeom>
          <a:solidFill>
            <a:srgbClr val="2B6CB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5074920" y="10881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= ?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074920" y="1609344"/>
            <a:ext cx="1005840" cy="365760"/>
          </a:xfrm>
          <a:prstGeom prst="rect">
            <a:avLst/>
          </a:prstGeom>
          <a:solidFill>
            <a:srgbClr val="9B2C2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5074920" y="16093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= ?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6355080" y="2130552"/>
            <a:ext cx="1005840" cy="365760"/>
          </a:xfrm>
          <a:prstGeom prst="rect">
            <a:avLst/>
          </a:prstGeom>
          <a:solidFill>
            <a:srgbClr val="6B46C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6355080" y="21305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+ COMMIT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= 7.000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7635240" y="1088136"/>
            <a:ext cx="1005840" cy="365760"/>
          </a:xfrm>
          <a:prstGeom prst="rect">
            <a:avLst/>
          </a:prstGeom>
          <a:solidFill>
            <a:srgbClr val="2B6CB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7635240" y="10881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= ?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7635240" y="1609344"/>
            <a:ext cx="1005840" cy="365760"/>
          </a:xfrm>
          <a:prstGeom prst="rect">
            <a:avLst/>
          </a:prstGeom>
          <a:solidFill>
            <a:srgbClr val="9B2C2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7635240" y="16093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Salário</a:t>
            </a: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= ?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457200" y="2606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cada </a:t>
            </a:r>
            <a:r>
              <a:rPr lang="en-US" sz="11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transação</a:t>
            </a: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enxerga:</a:t>
            </a:r>
            <a:endParaRPr lang="en-US" sz="11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252344"/>
              </p:ext>
            </p:extLst>
          </p:nvPr>
        </p:nvGraphicFramePr>
        <p:xfrm>
          <a:off x="457200" y="2862072"/>
          <a:ext cx="8229600" cy="11704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T4 - SELECT (após 1o UPDATE)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T6 - SELECT (após 2o UPDATE)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Trx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R$ 7.000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SELECT ve o último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committed naquele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momento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Trx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congelado no T2.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 ve mudancas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posteriores ao BEGIN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Shape 42"/>
          <p:cNvSpPr/>
          <p:nvPr/>
        </p:nvSpPr>
        <p:spPr>
          <a:xfrm>
            <a:off x="457200" y="4069080"/>
            <a:ext cx="3931920" cy="64008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142232"/>
            <a:ext cx="182880" cy="18288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850392" y="4114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6C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Committed = "Sempre atualizado"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59436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SELECT, cria um novo snapshot interno. Qualquer COMMIT de outra </a:t>
            </a:r>
            <a:r>
              <a:rPr lang="en-US" sz="8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 </a:t>
            </a: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imediatamente </a:t>
            </a:r>
            <a:r>
              <a:rPr lang="en-US" sz="8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</a:t>
            </a: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4754880" y="4069080"/>
            <a:ext cx="3931920" cy="640080"/>
          </a:xfrm>
          <a:prstGeom prst="rect">
            <a:avLst/>
          </a:prstGeom>
          <a:solidFill>
            <a:srgbClr val="F7FAFC"/>
          </a:solidFill>
          <a:ln w="19050">
            <a:solidFill>
              <a:srgbClr val="9B2C2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142232"/>
            <a:ext cx="182880" cy="18288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5148072" y="4114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 = "Fotografia congelada"</a:t>
            </a:r>
            <a:endParaRPr lang="en-US" sz="950" dirty="0"/>
          </a:p>
        </p:txBody>
      </p:sp>
      <p:sp>
        <p:nvSpPr>
          <p:cNvPr id="53" name="Text 47"/>
          <p:cNvSpPr/>
          <p:nvPr/>
        </p:nvSpPr>
        <p:spPr>
          <a:xfrm>
            <a:off x="489204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tirado uma única vez no BEGIN e nunca muda. Ideal para relatórios, mas dados podem estar "defasados".</a:t>
            </a:r>
            <a:endParaRPr lang="pt-BR" sz="800" noProof="0" dirty="0"/>
          </a:p>
        </p:txBody>
      </p:sp>
      <p:sp>
        <p:nvSpPr>
          <p:cNvPr id="54" name="Text 4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55" name="Text 49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486AF03-5BCA-495E-835D-11DB539E9548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fld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3D6B99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Lixo, Coleta de Lixo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lado obscuro do versioning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Lixo Gerado pelo Versioning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UPDATE ou DELETE cria </a:t>
            </a:r>
            <a:r>
              <a:rPr lang="en-US" sz="13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antigas que ficam no banco </a:t>
            </a:r>
            <a:r>
              <a:rPr lang="en-US" sz="13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serem limpas.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3931920" cy="2743200"/>
          </a:xfrm>
          <a:prstGeom prst="rect">
            <a:avLst/>
          </a:prstGeom>
          <a:solidFill>
            <a:srgbClr val="F7FAFC"/>
          </a:solidFill>
          <a:ln w="12700">
            <a:solidFill>
              <a:srgbClr val="38A16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087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Lixo de </a:t>
            </a:r>
            <a:r>
              <a:rPr lang="en-US" sz="1400" b="1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Transações</a:t>
            </a:r>
            <a:r>
              <a:rPr lang="en-US" sz="14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Committed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antigas de registros que foram atualizados por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já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confirmadas. Nenhuma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 precisa mais dessas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31520" y="2743200"/>
            <a:ext cx="33832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64008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Limpeza: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0080" y="3108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Limpo automaticamente quando uma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subsequente percorre o registro (cooperative GC) ou pelo garbage collector em background.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371600"/>
            <a:ext cx="3931920" cy="2743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5087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Lixo de </a:t>
            </a:r>
            <a:r>
              <a:rPr lang="en-US" sz="1400" b="1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Transações</a:t>
            </a:r>
            <a:r>
              <a:rPr lang="en-US" sz="14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Rolled Back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84632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criadas por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foram desfeitas (rollback). Essas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tiveram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e precisam ser removidas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37760" y="2743200"/>
            <a:ext cx="33832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4"/>
          <p:cNvSpPr/>
          <p:nvPr/>
        </p:nvSpPr>
        <p:spPr>
          <a:xfrm>
            <a:off x="484632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Limpeza: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846320" y="3108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coletado pelo Cooperative GC e Background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acessar os registros, mas tende a acumular em registros pouco acessados, tornando o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necessário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328272E-A453-4632-A0C1-35BC2CDE7A61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fld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Mecanismos de Coleta de Lixo no Firebird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2560320" cy="347472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57200" y="914400"/>
            <a:ext cx="2560320" cy="411480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5720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Cooperative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próprias transações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limpam as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antigas ao percorrer os registros durante leituras.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44843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0130" y="2276332"/>
            <a:ext cx="2011680" cy="582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e previsível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exige thread extra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espaço no momento em que o lixo é encontrado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67677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0130" y="2939459"/>
            <a:ext cx="2011680" cy="837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da limpeza cai sobre a transação do usuário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podem ficar lentas ao encontrar muito lixo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limpa registros/páginas visitados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617220" y="3776731"/>
            <a:ext cx="2286000" cy="274320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/>
          <p:nvPr/>
        </p:nvSpPr>
        <p:spPr>
          <a:xfrm>
            <a:off x="617220" y="377301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</a:t>
            </a:r>
            <a:r>
              <a:rPr lang="en-US" sz="90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</a:t>
            </a:r>
            <a:r>
              <a:rPr lang="en-US" sz="90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Classic e SuperClassic Server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337560" y="914400"/>
            <a:ext cx="2560320" cy="347472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3337560" y="914400"/>
            <a:ext cx="2560320" cy="411480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333756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47472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transação que encontra lixo apenas notifica/enfileira o trabalho; uma thread do servidor tenta limpar depois.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351795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03320" y="2105352"/>
            <a:ext cx="2011680" cy="790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impacto imediato sobre a transação do usuário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uma consulta pague todo o custo da limpeza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em bases com muito lixo visitado repetidamente</a:t>
            </a:r>
            <a:endParaRPr lang="en-US" sz="9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82549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03320" y="31253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páginas/registros serem detectados ou enfileirados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limpeza pode atrasar sob carga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 CPU/I/O em segundo plano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3474720" y="3765396"/>
            <a:ext cx="2286000" cy="274320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18"/>
          <p:cNvSpPr/>
          <p:nvPr/>
        </p:nvSpPr>
        <p:spPr>
          <a:xfrm>
            <a:off x="3474720" y="37653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</a:t>
            </a:r>
            <a:r>
              <a:rPr lang="en-US" sz="90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SuperServer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6217920" y="914400"/>
            <a:ext cx="2560320" cy="347472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0"/>
          <p:cNvSpPr/>
          <p:nvPr/>
        </p:nvSpPr>
        <p:spPr>
          <a:xfrm>
            <a:off x="6217920" y="914400"/>
            <a:ext cx="2560320" cy="411480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1"/>
          <p:cNvSpPr/>
          <p:nvPr/>
        </p:nvSpPr>
        <p:spPr>
          <a:xfrm>
            <a:off x="621792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Combined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35508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/>
              <a:t>Combina limpeza cooperativa com enfileiramento para background GC, tentando equilibrar latência e cobertura.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812710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35336" y="2744688"/>
            <a:ext cx="18600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r>
              <a:rPr lang="en-US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2 </a:t>
            </a:r>
            <a:r>
              <a:rPr lang="en-US" sz="900" dirty="0" err="1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mundos</a:t>
            </a:r>
            <a:r>
              <a:rPr lang="en-US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6355080" y="3765396"/>
            <a:ext cx="2286000" cy="274320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26"/>
          <p:cNvSpPr/>
          <p:nvPr/>
        </p:nvSpPr>
        <p:spPr>
          <a:xfrm>
            <a:off x="6355080" y="37653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r>
              <a:rPr lang="en-US" sz="90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SuperServer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2BCAE40-EA20-4125-B541-D9F40038CF30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fld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Sweep: Limpeza Profunda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BF4FF"/>
          </a:solidFill>
          <a:ln w="12700">
            <a:solidFill>
              <a:srgbClr val="3D6B9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008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</a:t>
            </a:r>
            <a:r>
              <a:rPr lang="en-US" sz="14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</a:t>
            </a: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 Sweep?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sweep percorre TODA a base de dados removendo </a:t>
            </a:r>
            <a:r>
              <a:rPr lang="en-US" sz="12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antigas de registros que nenhuma </a:t>
            </a:r>
            <a:r>
              <a:rPr lang="en-US" sz="12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ativa precisa mais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É a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mais pesada de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Firebird. Só o Sweep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OIT.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o Sweep </a:t>
            </a:r>
            <a:r>
              <a:rPr lang="en-US" sz="14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</a:t>
            </a:r>
            <a:r>
              <a:rPr lang="en-US" sz="14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disparado?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560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quando a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OST e OIT excede o Sweep Interval (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20.000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089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via gfix -sweep ou executando um backup (gbak faz GC como efeito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colateral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566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desabilitado: Sweep Interval = 0 (requer sweep manual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periódico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1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sweep pode degradar significativamente a performance enquanto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executando, pois varre todas as </a:t>
            </a:r>
            <a:r>
              <a:rPr lang="en-US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dados. </a:t>
            </a: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bases grandes, pode durar horas. </a:t>
            </a:r>
            <a:r>
              <a:rPr lang="en-US" sz="11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</a:t>
            </a: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recomendada: desabilitar o sweep </a:t>
            </a:r>
            <a:r>
              <a:rPr lang="en-US" sz="11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agendar sweeps manuais ou backups em </a:t>
            </a:r>
            <a:r>
              <a:rPr lang="en-US" sz="11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</a:t>
            </a: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baixo uso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5D47146-15F3-49DE-AD02-9DC9A7029F8E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fld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do Lixo na Performance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ubtitle"/>
          <p:cNvSpPr/>
          <p:nvPr/>
        </p:nvSpPr>
        <p:spPr>
          <a:xfrm>
            <a:off x="457200" y="8001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o lixo prejudica:</a:t>
            </a:r>
            <a:endParaRPr lang="pt-BR" sz="1300"/>
          </a:p>
        </p:txBody>
      </p:sp>
      <p:sp>
        <p:nvSpPr>
          <p:cNvPr id="7" name="Card1 BG"/>
          <p:cNvSpPr/>
          <p:nvPr/>
        </p:nvSpPr>
        <p:spPr>
          <a:xfrm>
            <a:off x="457200" y="1143000"/>
            <a:ext cx="3977640" cy="11430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E53E3E">
                <a:alpha val="50000"/>
              </a:srgbClr>
            </a:solidFill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Card1 Text"/>
          <p:cNvSpPr/>
          <p:nvPr/>
        </p:nvSpPr>
        <p:spPr>
          <a:xfrm>
            <a:off x="640080" y="118872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300" b="1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Cadeias longas</a:t>
            </a:r>
            <a:endParaRPr lang="pt-BR" sz="1300"/>
          </a:p>
          <a:p>
            <a:pPr marL="0" indent="0">
              <a:buNone/>
            </a:pPr>
            <a:r>
              <a:rPr lang="pt-BR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precisa percorrer muitas versões antigas para encontrar a versão correta de cada registro. Quanto maior a cadeia, maior a latência de cada leitura.</a:t>
            </a:r>
            <a:endParaRPr lang="pt-BR" sz="1100"/>
          </a:p>
        </p:txBody>
      </p:sp>
      <p:sp>
        <p:nvSpPr>
          <p:cNvPr id="9" name="Card2 BG"/>
          <p:cNvSpPr/>
          <p:nvPr/>
        </p:nvSpPr>
        <p:spPr>
          <a:xfrm>
            <a:off x="4709160" y="1143000"/>
            <a:ext cx="3977640" cy="11430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DD6B20">
                <a:alpha val="50000"/>
              </a:srgbClr>
            </a:solidFill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Card2 Text"/>
          <p:cNvSpPr/>
          <p:nvPr/>
        </p:nvSpPr>
        <p:spPr>
          <a:xfrm>
            <a:off x="4891680" y="118872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Páginas cheias</a:t>
            </a:r>
            <a:endParaRPr lang="pt-BR" sz="1300" dirty="0"/>
          </a:p>
          <a:p>
            <a:pPr marL="0" indent="0">
              <a:buNone/>
            </a:pPr>
            <a:r>
              <a:rPr lang="pt-B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antigas ocupam espaço nas páginas de dados, causando mais I/O. </a:t>
            </a:r>
            <a:endParaRPr lang="pt-BR" sz="1100" dirty="0"/>
          </a:p>
        </p:txBody>
      </p:sp>
      <p:sp>
        <p:nvSpPr>
          <p:cNvPr id="11" name="Card3 BG"/>
          <p:cNvSpPr/>
          <p:nvPr/>
        </p:nvSpPr>
        <p:spPr>
          <a:xfrm>
            <a:off x="457200" y="2423160"/>
            <a:ext cx="3977640" cy="11430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D69E2E">
                <a:alpha val="50000"/>
              </a:srgbClr>
            </a:solidFill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Card3 Text"/>
          <p:cNvSpPr/>
          <p:nvPr/>
        </p:nvSpPr>
        <p:spPr>
          <a:xfrm>
            <a:off x="640080" y="246888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D69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Startup mais lento de transações</a:t>
            </a:r>
            <a:endParaRPr lang="pt-BR" sz="1300" dirty="0"/>
          </a:p>
          <a:p>
            <a:pPr marL="0" indent="0">
              <a:buNone/>
            </a:pPr>
            <a:r>
              <a:rPr lang="pt-B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transações acumuladas na TIP aumentam o tempo de início de novas transações snapshot e aumentam o consumo de memória.</a:t>
            </a:r>
            <a:endParaRPr lang="pt-BR" sz="1100" dirty="0"/>
          </a:p>
        </p:txBody>
      </p:sp>
      <p:sp>
        <p:nvSpPr>
          <p:cNvPr id="13" name="Card4 BG"/>
          <p:cNvSpPr/>
          <p:nvPr/>
        </p:nvSpPr>
        <p:spPr>
          <a:xfrm>
            <a:off x="4709160" y="2423160"/>
            <a:ext cx="3977640" cy="11430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805AD5">
                <a:alpha val="50000"/>
              </a:srgbClr>
            </a:solidFill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Card4 Text"/>
          <p:cNvSpPr/>
          <p:nvPr/>
        </p:nvSpPr>
        <p:spPr>
          <a:xfrm>
            <a:off x="4891680" y="246888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300" b="1">
                <a:solidFill>
                  <a:srgbClr val="805A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Sweep pesado</a:t>
            </a:r>
            <a:endParaRPr lang="pt-BR" sz="1300"/>
          </a:p>
          <a:p>
            <a:pPr marL="0" indent="0">
              <a:buNone/>
            </a:pPr>
            <a:r>
              <a:rPr lang="pt-BR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lixo acumulado, mais demorado e impactante será o sweep. Em bases grandes com muito lixo, o sweep pode levar horas e degradar todo o sistema.</a:t>
            </a:r>
            <a:endParaRPr lang="pt-BR" sz="1100"/>
          </a:p>
        </p:txBody>
      </p:sp>
      <p:sp>
        <p:nvSpPr>
          <p:cNvPr id="15" name="BestPractices BG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12700">
            <a:solidFill>
              <a:srgbClr val="38A16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BestPractices Title"/>
          <p:cNvSpPr/>
          <p:nvPr/>
        </p:nvSpPr>
        <p:spPr>
          <a:xfrm>
            <a:off x="640080" y="3749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práticas:</a:t>
            </a:r>
            <a:endParaRPr lang="pt-BR" sz="1100"/>
          </a:p>
        </p:txBody>
      </p:sp>
      <p:sp>
        <p:nvSpPr>
          <p:cNvPr id="17" name="BestPractices Content"/>
          <p:cNvSpPr/>
          <p:nvPr/>
        </p:nvSpPr>
        <p:spPr>
          <a:xfrm>
            <a:off x="6400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COMMIT/ROLLBACK rápido  |  Evitar snapshots longos  |  Monitorar gap OIT-OAT  |  GCPolicy=combined</a:t>
            </a:r>
            <a:endParaRPr lang="pt-BR" sz="1000"/>
          </a:p>
        </p:txBody>
      </p:sp>
      <p:sp>
        <p:nvSpPr>
          <p:cNvPr id="18" name="Footer Left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/>
          </a:p>
        </p:txBody>
      </p:sp>
      <p:sp>
        <p:nvSpPr>
          <p:cNvPr id="19" name="Footer Right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98CBF844-6787-4138-9087-AF3FA9F76810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fld>
            <a:endParaRPr lang="en-US" sz="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D6B99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5A8CB5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Comparação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entre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Bancos de Dados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 |  PostgreSQL  |  Oracle  |  SQL Server  |  MySQL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as </a:t>
            </a:r>
            <a:r>
              <a:rPr lang="en-US" sz="22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Versões São</a:t>
            </a: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Armazenadas?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1645920" cy="365760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74320" y="914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Firebird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280160"/>
            <a:ext cx="1645920" cy="64008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6B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D6B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</a:t>
            </a:r>
            <a:r>
              <a:rPr lang="en-US" sz="1000" b="1">
                <a:solidFill>
                  <a:srgbClr val="3D6B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páginas</a:t>
            </a:r>
            <a:r>
              <a:rPr lang="en-US" sz="1000" b="1" dirty="0">
                <a:solidFill>
                  <a:srgbClr val="3D6B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dados)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antigas ficam nas </a:t>
            </a: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próprias páginas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dados, formando cadeias de back versions.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01752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</a:t>
            </a:r>
            <a:r>
              <a:rPr lang="en-US" sz="80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</a:t>
            </a: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80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recentes</a:t>
            </a:r>
            <a:endParaRPr lang="en-US" sz="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Paginas incham com muitas </a:t>
            </a:r>
            <a:r>
              <a:rPr lang="en-US" sz="80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2011680" y="914400"/>
            <a:ext cx="1645920" cy="365760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2011680" y="914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011680" y="1280160"/>
            <a:ext cx="1645920" cy="64008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201168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67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67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(heap tuples)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05740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UPDATE cria uma nova tupla no </a:t>
            </a:r>
            <a:r>
              <a:rPr lang="pt-BR" sz="9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r>
              <a:rPr lang="pt-BR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tabela. A versão anterior permanece como uma tupla antiga até ser removida ou reutilizada pelo VACUUM.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017520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4028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e robusto</a:t>
            </a:r>
            <a:endParaRPr lang="en-US" sz="8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383280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24028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bloat sem VACUUM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3749040" y="914400"/>
            <a:ext cx="1645920" cy="365760"/>
          </a:xfrm>
          <a:prstGeom prst="rect">
            <a:avLst/>
          </a:prstGeom>
          <a:solidFill>
            <a:srgbClr val="F8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18"/>
          <p:cNvSpPr/>
          <p:nvPr/>
        </p:nvSpPr>
        <p:spPr>
          <a:xfrm>
            <a:off x="3749040" y="914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749040" y="1280160"/>
            <a:ext cx="1645920" cy="64008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0"/>
          <p:cNvSpPr/>
          <p:nvPr/>
        </p:nvSpPr>
        <p:spPr>
          <a:xfrm>
            <a:off x="374904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 Tablespace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8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(separado)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379476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antigas </a:t>
            </a: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vão 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segmentos de UNDO separados. A tabela principal </a:t>
            </a: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a </a:t>
            </a: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atual.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017520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7764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sempre limpa</a:t>
            </a:r>
            <a:endParaRPr lang="en-US" sz="8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383280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97764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pode ficar cheio (ORA-01555)</a:t>
            </a:r>
            <a:endParaRPr lang="en-US" sz="800" dirty="0"/>
          </a:p>
        </p:txBody>
      </p:sp>
      <p:sp>
        <p:nvSpPr>
          <p:cNvPr id="33" name="Shape 24"/>
          <p:cNvSpPr/>
          <p:nvPr/>
        </p:nvSpPr>
        <p:spPr>
          <a:xfrm>
            <a:off x="5486400" y="914400"/>
            <a:ext cx="1645920" cy="365760"/>
          </a:xfrm>
          <a:prstGeom prst="rect">
            <a:avLst/>
          </a:prstGeom>
          <a:solidFill>
            <a:srgbClr val="CC29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25"/>
          <p:cNvSpPr/>
          <p:nvPr/>
        </p:nvSpPr>
        <p:spPr>
          <a:xfrm>
            <a:off x="5486400" y="914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5486400" y="1280160"/>
            <a:ext cx="1645920" cy="64008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27"/>
          <p:cNvSpPr/>
          <p:nvPr/>
        </p:nvSpPr>
        <p:spPr>
          <a:xfrm>
            <a:off x="548640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29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tempdb</a:t>
            </a:r>
            <a:r>
              <a:rPr lang="en-US" sz="1000" b="1">
                <a:solidFill>
                  <a:srgbClr val="CC29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ou PVS*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C29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(version store)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553212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vão 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tempdb </a:t>
            </a: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(classico) ou para o PVS no próprio banco (com ADR, a partir do SQL Server 2019).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 </a:t>
            </a: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017520"/>
            <a:ext cx="164592" cy="16459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71500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polui tabela principal</a:t>
            </a:r>
            <a:endParaRPr lang="en-US" sz="8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383280"/>
            <a:ext cx="164592" cy="16459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71500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tempdb pode ser gargalo</a:t>
            </a:r>
            <a:r>
              <a:rPr lang="en-US" sz="80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(mitigado com ADR/PVS)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7223760" y="914400"/>
            <a:ext cx="1645920" cy="365760"/>
          </a:xfrm>
          <a:prstGeom prst="rect">
            <a:avLst/>
          </a:prstGeom>
          <a:solidFill>
            <a:srgbClr val="4479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2"/>
          <p:cNvSpPr/>
          <p:nvPr/>
        </p:nvSpPr>
        <p:spPr>
          <a:xfrm>
            <a:off x="7223760" y="914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MySQL/InnoDB</a:t>
            </a:r>
            <a:endParaRPr lang="en-US" sz="1100" dirty="0"/>
          </a:p>
        </p:txBody>
      </p:sp>
      <p:sp>
        <p:nvSpPr>
          <p:cNvPr id="44" name="Shape 33"/>
          <p:cNvSpPr/>
          <p:nvPr/>
        </p:nvSpPr>
        <p:spPr>
          <a:xfrm>
            <a:off x="7223760" y="1280160"/>
            <a:ext cx="1645920" cy="640080"/>
          </a:xfrm>
          <a:prstGeom prst="rect">
            <a:avLst/>
          </a:prstGeom>
          <a:solidFill>
            <a:srgbClr val="F7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Text 34"/>
          <p:cNvSpPr/>
          <p:nvPr/>
        </p:nvSpPr>
        <p:spPr>
          <a:xfrm>
            <a:off x="722376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479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 Log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479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(rollback segment)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726948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ao Oracle. </a:t>
            </a: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antigas ficam nos undo logs do InnoDB, separadas dos dados.</a:t>
            </a:r>
            <a:endParaRPr lang="en-US" sz="900" dirty="0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3017520"/>
            <a:ext cx="164592" cy="164592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45236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principal enxuta</a:t>
            </a:r>
            <a:endParaRPr lang="en-US" sz="8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3383280"/>
            <a:ext cx="164592" cy="164592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745236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thread pode atrasar</a:t>
            </a:r>
            <a:endParaRPr lang="en-US" sz="800" dirty="0"/>
          </a:p>
        </p:txBody>
      </p:sp>
      <p:sp>
        <p:nvSpPr>
          <p:cNvPr id="51" name="Shape 38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B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Text 39"/>
          <p:cNvSpPr/>
          <p:nvPr/>
        </p:nvSpPr>
        <p:spPr>
          <a:xfrm>
            <a:off x="64008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 (Firebird/PostgreSQL):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ficam junto aos dados -&gt; precisa de garbage collection ativo. </a:t>
            </a: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 (Oracle/SQL Server/MySQL):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ficam em area separada -&gt; menos inchaço nas tabelas, mas precisa gerenciar o espaco de undo.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SQL Server 2019+: com Accelerated Database Recovery (ADR) ativado, versões ficam no Persistent Version Store (PVS) dentro do próprio banco, eliminando a dependência do tempdb.</a:t>
            </a:r>
            <a:endParaRPr lang="en-US" sz="900"/>
          </a:p>
        </p:txBody>
      </p:sp>
      <p:sp>
        <p:nvSpPr>
          <p:cNvPr id="53" name="Text 4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54" name="Text 4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5ACDF83F-46EB-4E6E-A369-7EF645D7562E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fld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Firebird vs PostgreSQL: Detalhes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34615"/>
              </p:ext>
            </p:extLst>
          </p:nvPr>
        </p:nvGraphicFramePr>
        <p:xfrm>
          <a:off x="274320" y="914400"/>
          <a:ext cx="8595360" cy="3794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Firebird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versões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versions nas mesmas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páginas de dados (in-line)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Tuplas mortas no heap 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mesma tabela (in-line)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versão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ID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(32/48 bits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transação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xmin/xmax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embutidos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tupla</a:t>
                      </a:r>
                      <a:b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(XIDs de 32 bits)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Garbage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Cooperative + Background +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(configurável)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 + Autovacuum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(processo dedicado)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garbage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Coletado pelo GC ao acessar registros;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acumula em registros pouco acessados; sweep ajuda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tuples removidos pelo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 normalmente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wraparound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(TIP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sofre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wraparound de IDs)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(Transaction ID wraparound;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 VACUUM FREEZE)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por statement;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VERSION / NO RV / READ_CONSISTENCY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por statement;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sempre lê versão committed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Congelado no BEGIN da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transação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REPEATABLE READ, o snapshot é fixado no primeiro comando efetivo da transação, não necessariamente no BEGIN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E7B12F9A-0B0B-47B2-8C50-FC851A1ECDE1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fld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Oracle, SQL Server e MySQL: </a:t>
            </a:r>
            <a:r>
              <a:rPr lang="en-US" sz="22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Diferenças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966998"/>
              </p:ext>
            </p:extLst>
          </p:nvPr>
        </p:nvGraphicFramePr>
        <p:xfrm>
          <a:off x="274320" y="914400"/>
          <a:ext cx="8595360" cy="3337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9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(InnoDB)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MVCC padrão?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nativo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(desde sempre)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(precisa habilitar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Isolation)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(InnoDB usa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MVCC nativamente)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tablespace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(separado)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tempdb (classico) ou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PVS no banco (ADR)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log / rollback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(separado)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Garbage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Automático pelo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SMON process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Automático;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store cleanup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Purge thread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Dirty Read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Impossível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(sem Read Uncommitted)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(com NOLOCK / Read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Uncommited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(Read Uncommitted)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Padrão; usa SCN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(System Change Number)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Lock-based por padrão;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opcional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reads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statement</a:t>
                      </a:r>
                      <a:b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InnoDB</a:t>
                      </a: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é Repeatable Read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 especifico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ORA-01555: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too 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tempdb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lotado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ADR)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PVS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crescer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(ADR)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list length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grande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296291"/>
            <a:ext cx="8229600" cy="412869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640080" y="4286595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é o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5 que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 MVCC por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 preciso habilitar READ_COMMITTED_SNAPSHOT ou ALLOW_SNAPSHOT_ISOLATION. A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SQL Server 2019, o ADR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PVS (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banco)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tempdb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32A63C31-52AB-4D6C-B402-58DA8397103A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fld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Comparativa Completa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984112"/>
              </p:ext>
            </p:extLst>
          </p:nvPr>
        </p:nvGraphicFramePr>
        <p:xfrm>
          <a:off x="274320" y="914400"/>
          <a:ext cx="8595360" cy="30083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Firebird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9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MVCC nativo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(InnoDB)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Versões em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In-line (</a:t>
                      </a:r>
                      <a:r>
                        <a:rPr lang="pt-BR" sz="900" dirty="0" err="1"/>
                        <a:t>Heap</a:t>
                      </a:r>
                      <a:r>
                        <a:rPr lang="pt-BR" sz="900" dirty="0"/>
                        <a:t> </a:t>
                      </a:r>
                      <a:r>
                        <a:rPr lang="pt-BR" sz="900" dirty="0" err="1"/>
                        <a:t>tuples</a:t>
                      </a:r>
                      <a:r>
                        <a:rPr lang="pt-BR" sz="900" dirty="0"/>
                        <a:t>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tblsp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tempdb/PVS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principal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Coop/BG/Sweep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(Version Cleanup)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“</a:t>
                      </a:r>
                      <a:r>
                        <a:rPr lang="en-US" sz="900" b="1" dirty="0" err="1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</a:t>
                      </a: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MVCC/SCN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RCSI / Snapshot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Dirty Read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com NOLOCK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(Read Uncommitted)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de 32/48 bits</a:t>
                      </a:r>
                      <a:b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 2 bits (status)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XID (32 bit)</a:t>
                      </a:r>
                      <a:b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xmin</a:t>
                      </a: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r>
                        <a:rPr lang="en-US" sz="9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900" dirty="0"/>
                        <a:t>XSN / </a:t>
                      </a:r>
                      <a:r>
                        <a:rPr lang="pt-BR" sz="900" dirty="0" err="1"/>
                        <a:t>version</a:t>
                      </a:r>
                      <a:r>
                        <a:rPr lang="pt-BR" sz="900" dirty="0"/>
                        <a:t> </a:t>
                      </a:r>
                      <a:r>
                        <a:rPr lang="pt-BR" sz="900" dirty="0" err="1"/>
                        <a:t>chain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TRX_ID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OIT-OAT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Bloat/XID Wrap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ORA-01555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tempdb/PVS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EBF4FF"/>
          </a:solidFill>
          <a:ln w="12700">
            <a:solidFill>
              <a:srgbClr val="3D6B9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e PostgreSQL compartilham a abordagem in-line (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dados), enquanto Oracle, SQL Server e MySQL usam areas separadas.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Server 2019+, o ADR permite usar o PVS no próprio banco em vez do tempdb.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abordagem tem seus trade-offs entre simplicidade, performance e necessidade de </a:t>
            </a: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5A53ED80-7A2A-41AF-8725-265C71703E1C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fld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B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Resumo e </a:t>
            </a:r>
            <a:r>
              <a:rPr lang="en-US" sz="2200" b="1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Conclusões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8229600" cy="429768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94183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8869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é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para garantir integridade em ambientes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multiusuário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1371600"/>
            <a:ext cx="82296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44475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13898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(MVCC) elimina bloqueios entre leitores e escritores criando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dados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57200" y="1874520"/>
            <a:ext cx="8229600" cy="429768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947672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18928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isolamento define quais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pode enxergar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57200" y="2377440"/>
            <a:ext cx="82296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450592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23957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antigas geram lixo que precisa ser coletado para manter a performance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57200" y="2880360"/>
            <a:ext cx="8229600" cy="429768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2953512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51560" y="28986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Firebird: sweep + GC policy. No PostgreSQL: VACUUM. Cada banco tem sua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457200" y="3383280"/>
            <a:ext cx="82296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456432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51560" y="34015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curtas e commit </a:t>
            </a:r>
            <a:r>
              <a:rPr lang="en-US" sz="11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</a:t>
            </a: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melhores </a:t>
            </a:r>
            <a:r>
              <a:rPr lang="en-US" sz="11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</a:t>
            </a: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qualquer banco com MVCC</a:t>
            </a:r>
            <a:endParaRPr lang="en-US" sz="1100" b="1" dirty="0"/>
          </a:p>
        </p:txBody>
      </p:sp>
      <p:sp>
        <p:nvSpPr>
          <p:cNvPr id="24" name="Shape 15"/>
          <p:cNvSpPr/>
          <p:nvPr/>
        </p:nvSpPr>
        <p:spPr>
          <a:xfrm>
            <a:off x="457200" y="3886200"/>
            <a:ext cx="8229600" cy="429768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959352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51560" y="39044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 vs separado: cada abordagem tem trade-offs entre simplicidade e </a:t>
            </a:r>
            <a:r>
              <a:rPr lang="en-US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1A365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18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Versioning permite bancos modernos atenderem milhares de </a:t>
            </a: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usuários </a:t>
            </a: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sacrificar a </a:t>
            </a: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consistência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(MVCC/MGA) em Bancos de Dados</a:t>
            </a:r>
            <a:endParaRPr lang="en-US" sz="800" dirty="0"/>
          </a:p>
        </p:txBody>
      </p:sp>
      <p:sp>
        <p:nvSpPr>
          <p:cNvPr id="30" name="Text 2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A9D675D1-6EA7-426A-8CA3-CED644E6C8C9}" type="slidenum">
              <a:rPr lang="en-US" sz="8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fld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D6B99">
              <a:alpha val="60000"/>
            </a:srgb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5A8CB5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193" y="10972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A8C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Perguntas?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5A8C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914400" y="3975157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www.firebase.com.br</a:t>
            </a:r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www.firebirdnews.org</a:t>
            </a:r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www.warmboot.com.br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2B925D5-78D9-35B4-F4B4-31F89E014F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584" y="329451"/>
            <a:ext cx="1736350" cy="67228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F4D3766-37F4-94CE-4952-79D7C2C9B36B}"/>
              </a:ext>
            </a:extLst>
          </p:cNvPr>
          <p:cNvSpPr txBox="1"/>
          <p:nvPr/>
        </p:nvSpPr>
        <p:spPr>
          <a:xfrm>
            <a:off x="8374855" y="673026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b="1" dirty="0"/>
              <a:t>.com.br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5899D0B-9098-F38F-4112-AC0649CBCA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6584" y="1200185"/>
            <a:ext cx="672282" cy="672282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F9541D95-1755-90B7-D761-07DEB1FE9719}"/>
              </a:ext>
            </a:extLst>
          </p:cNvPr>
          <p:cNvSpPr txBox="1"/>
          <p:nvPr/>
        </p:nvSpPr>
        <p:spPr>
          <a:xfrm>
            <a:off x="7838866" y="1363804"/>
            <a:ext cx="1241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firebirdsql.org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4228</Words>
  <Application>Microsoft Office PowerPoint</Application>
  <PresentationFormat>Apresentação na tela (16:9)</PresentationFormat>
  <Paragraphs>731</Paragraphs>
  <Slides>35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9" baseType="lpstr">
      <vt:lpstr>Arial</vt:lpstr>
      <vt:lpstr>Calibri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H. Cantu</dc:creator>
  <cp:lastModifiedBy>Carlos H. Cantu</cp:lastModifiedBy>
  <cp:revision>22</cp:revision>
  <dcterms:created xsi:type="dcterms:W3CDTF">2026-05-17T15:13:31Z</dcterms:created>
  <dcterms:modified xsi:type="dcterms:W3CDTF">2026-05-23T11:57:38Z</dcterms:modified>
</cp:coreProperties>
</file>